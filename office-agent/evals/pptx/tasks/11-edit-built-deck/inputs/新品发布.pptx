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95350" y="2540000"/>
            <a:ext cx="479149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云朵 Pro 智能台灯</a:t>
            </a:r>
          </a:p>
        </p:txBody>
      </p:sp>
      <p:sp>
        <p:nvSpPr>
          <p:cNvPr id="3" name="price"/>
          <p:cNvSpPr txBox="1"/>
          <p:nvPr/>
        </p:nvSpPr>
        <p:spPr>
          <a:xfrm>
            <a:off x="903732" y="3556000"/>
            <a:ext cx="178822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BBF24"/>
                </a:solidFill>
                <a:latin typeface="Arial"/>
                <a:ea typeface="Microsoft YaHei"/>
                <a:cs typeface="Arial"/>
              </a:rPr>
              <a:t>首发价 399 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99160" y="7747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E1116"/>
                </a:solidFill>
                <a:latin typeface="Arial"/>
                <a:ea typeface="Microsoft YaHei"/>
                <a:cs typeface="Arial"/>
              </a:rPr>
              <a:t>三个理由，把它放在手边</a:t>
            </a:r>
          </a:p>
        </p:txBody>
      </p:sp>
      <p:grpSp>
        <p:nvGrpSpPr>
          <p:cNvPr id="7" name="benefit-1"/>
          <p:cNvGrpSpPr/>
          <p:nvPr/>
        </p:nvGrpSpPr>
        <p:grpSpPr>
          <a:xfrm>
            <a:off x="1009650" y="1758950"/>
            <a:ext cx="3905250" cy="756920"/>
            <a:chOff x="1009650" y="1758950"/>
            <a:chExt cx="3905250" cy="756920"/>
          </a:xfrm>
        </p:grpSpPr>
        <p:sp>
          <p:nvSpPr>
            <p:cNvPr id="3" name="Ellipse 3"/>
            <p:cNvSpPr/>
            <p:nvPr/>
          </p:nvSpPr>
          <p:spPr>
            <a:xfrm>
              <a:off x="1009650" y="1847850"/>
              <a:ext cx="419100" cy="4191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94965" y="19431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64970" y="17589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1116"/>
                  </a:solidFill>
                  <a:latin typeface="Arial"/>
                  <a:ea typeface="Microsoft YaHei"/>
                  <a:cs typeface="Arial"/>
                </a:rPr>
                <a:t>护眼无频闪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68780" y="22225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光线稳定不频闪，长时间读写更舒服</a:t>
              </a:r>
            </a:p>
          </p:txBody>
        </p:sp>
      </p:grpSp>
      <p:grpSp>
        <p:nvGrpSpPr>
          <p:cNvPr id="12" name="benefit-2"/>
          <p:cNvGrpSpPr/>
          <p:nvPr/>
        </p:nvGrpSpPr>
        <p:grpSpPr>
          <a:xfrm>
            <a:off x="1009650" y="3092450"/>
            <a:ext cx="3501390" cy="756920"/>
            <a:chOff x="1009650" y="3092450"/>
            <a:chExt cx="3501390" cy="756920"/>
          </a:xfrm>
        </p:grpSpPr>
        <p:sp>
          <p:nvSpPr>
            <p:cNvPr id="8" name="Ellipse 8"/>
            <p:cNvSpPr/>
            <p:nvPr/>
          </p:nvSpPr>
          <p:spPr>
            <a:xfrm>
              <a:off x="1009650" y="3181350"/>
              <a:ext cx="419100" cy="4191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965" y="32766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4970" y="30924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1116"/>
                  </a:solidFill>
                  <a:latin typeface="Arial"/>
                  <a:ea typeface="Microsoft YaHei"/>
                  <a:cs typeface="Arial"/>
                </a:rPr>
                <a:t>旋钮一键调光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8780" y="35560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一颗旋钮，亮度与色温随时调好</a:t>
              </a:r>
            </a:p>
          </p:txBody>
        </p:sp>
      </p:grpSp>
      <p:grpSp>
        <p:nvGrpSpPr>
          <p:cNvPr id="17" name="benefit-3"/>
          <p:cNvGrpSpPr/>
          <p:nvPr/>
        </p:nvGrpSpPr>
        <p:grpSpPr>
          <a:xfrm>
            <a:off x="1009650" y="4425950"/>
            <a:ext cx="3551873" cy="756920"/>
            <a:chOff x="1009650" y="4425950"/>
            <a:chExt cx="3551873" cy="756920"/>
          </a:xfrm>
        </p:grpSpPr>
        <p:sp>
          <p:nvSpPr>
            <p:cNvPr id="13" name="Ellipse 13"/>
            <p:cNvSpPr/>
            <p:nvPr/>
          </p:nvSpPr>
          <p:spPr>
            <a:xfrm>
              <a:off x="1009650" y="4514850"/>
              <a:ext cx="419100" cy="4191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4965" y="46101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4970" y="44259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1116"/>
                  </a:solidFill>
                  <a:latin typeface="Arial"/>
                  <a:ea typeface="Microsoft YaHei"/>
                  <a:cs typeface="Arial"/>
                </a:rPr>
                <a:t>可折叠随身带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8780" y="4889500"/>
              <a:ext cx="2892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机身 480 克，折叠收起放进包里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99160" y="774700"/>
            <a:ext cx="29604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E1116"/>
                </a:solidFill>
                <a:latin typeface="Arial"/>
                <a:ea typeface="Microsoft YaHei"/>
                <a:cs typeface="Arial"/>
              </a:rPr>
              <a:t>11 月 18 日首发</a:t>
            </a:r>
          </a:p>
        </p:txBody>
      </p:sp>
      <p:grpSp>
        <p:nvGrpSpPr>
          <p:cNvPr id="6" name="offer"/>
          <p:cNvGrpSpPr/>
          <p:nvPr/>
        </p:nvGrpSpPr>
        <p:grpSpPr>
          <a:xfrm>
            <a:off x="914400" y="2095500"/>
            <a:ext cx="6096000" cy="1905000"/>
            <a:chOff x="914400" y="2095500"/>
            <a:chExt cx="6096000" cy="1905000"/>
          </a:xfrm>
        </p:grpSpPr>
        <p:sp>
          <p:nvSpPr>
            <p:cNvPr id="3" name="Rectangle 3"/>
            <p:cNvSpPr/>
            <p:nvPr/>
          </p:nvSpPr>
          <p:spPr>
            <a:xfrm>
              <a:off x="914400" y="2095500"/>
              <a:ext cx="6096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205484" y="2527300"/>
              <a:ext cx="11351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2410C"/>
                  </a:solidFill>
                  <a:latin typeface="Arial"/>
                  <a:ea typeface="Microsoft YaHei"/>
                  <a:cs typeface="Arial"/>
                </a:rPr>
                <a:t>399 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10818" y="3225800"/>
              <a:ext cx="2693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前 1,000 名下单再减 50 元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